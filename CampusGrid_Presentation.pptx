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8A4C1-F8B4-5833-5E56-2FE0401F6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2D093A-CD64-658E-903C-0DA510BF7D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DA31F0-DE1E-6E1C-BD3D-4CDDF4AB0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9F4E8-BBD5-AFC1-29AF-70CD652A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492C8-E2C7-A60D-7EDE-96E91BBD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67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6BC13-1F8F-4AAE-AE86-575D775B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748EC-D353-72A7-D9CB-24A3D47B0F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3317B6-D033-EC3E-2B8B-4FDF21299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FA832-53F8-380B-B45E-6655E8C0C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F4F90-F59B-CA28-D33E-3C901AAE8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455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FDFCF-76F0-C7FE-2A8C-D787AA9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53268-86A6-F735-CFD5-05F931A68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118910-5659-FBEA-38EB-967A3F3A9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E131E-AF9F-B1A0-4A6F-569CE50DF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EB00E-6D28-2875-045F-97048595E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72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CC886-E0E5-0322-B2C2-DD6A71A8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70187-07DC-6AC2-DE97-F285F05C1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03D00-3AF0-0005-CDE0-CB3DCDFCD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DA124-3796-341E-201C-78F136CF8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9501B-1A1C-E9BF-01CE-47B7D16EA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D16C6-9999-9423-5899-45A0F0451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969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CD5C7-E6E5-56B8-3393-605BAF1A1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D2789D-5C4A-90B1-5834-19D669852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A7C45-9EF4-675D-5EC8-3CEE69717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84AA2B-861B-3011-5557-C9E8AB3735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FA692A-6B4C-E454-0A43-DDC4B6EC8A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6D025-34EF-E45A-7F39-31028B10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3A50CD-9CD0-4D77-CF79-B45B368B8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970E29-3B52-C12E-6BD6-72FB459CA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765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B4B2E-7842-CCA2-EF3D-3741A10C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B0C18C-8E6C-7CD9-4DEA-DD6127ECE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EE0C0C-EC1A-E5B6-5337-486FC2AED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FC3BE-8D7C-E063-6E5E-468C150EF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5718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E4D330-EE7D-0DAB-1A3F-70738420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4E17D-E4A9-DBF6-ED10-B8E5A54EB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079D0-497B-44A0-905A-E42FA6E15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52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D6127-983D-39BE-C0E8-1A5D879D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389B7F-27CF-99B1-6E33-BD71F9734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B5FAD-5F7E-362E-625B-C46AE3114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67A03B-2B40-B097-0B27-E6FA46670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21635-C60E-1A53-455A-5EDF2535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73CE1-DFB1-3977-62D0-3C80E854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53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F805C-CF89-9C02-1917-9BF246A76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FA00B7-4689-F9AF-D27B-4B24D86E4A8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8CBF4-9572-88D8-7832-6F3B85984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F3A39-8883-4C83-62E4-BDD1F717B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321971-B459-94F1-75E9-3DF68F38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6FE1A-B2FB-B537-C8B5-50E49B948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447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B816-6DF4-9607-8C7F-47210F1E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CB119A-7EFC-DB18-9A6E-7531A8BE3D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A3013-514D-4146-BC2A-E7DDB601F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1D976-7F9B-2942-D84E-901449C1A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E3181-56E2-5997-EF16-6CC279E2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587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F55D02-7057-39C2-F385-81CC8A0A7A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76339-33F2-53B1-CBF7-8181BA26C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7E56-92DA-28B5-B72C-414ECD3AF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88BDB-73AB-8FD4-B91F-E885DC981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A7879-9146-DE92-DA75-39F3786DE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466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71301-6FAC-DE38-21AD-F6C9ECC70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CE3AB-C580-5460-636E-0ECCB311A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85E9B-20A8-6E99-2329-22DD011140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4F349-0219-4E98-9F68-359C7AA2B95B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56D20C-A9E3-1923-2D62-CC7F6D4EF6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406C1-A703-969D-FEAA-4DB1867F0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2860-C0F0-4455-8420-F1D9773DF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0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C0D40F-98BC-CBB6-0147-4FA2F86624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37F509F-EC94-13B7-CBDA-E5CBBF69F5E8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4C6D7-4BE3-12BC-4DC7-85387DB4AAAE}"/>
              </a:ext>
            </a:extLst>
          </p:cNvPr>
          <p:cNvSpPr txBox="1"/>
          <p:nvPr/>
        </p:nvSpPr>
        <p:spPr>
          <a:xfrm>
            <a:off x="762000" y="889000"/>
            <a:ext cx="1066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4400" b="1">
                <a:solidFill>
                  <a:srgbClr val="FFFFFF"/>
                </a:solidFill>
                <a:latin typeface="Segoe UI" panose="020B0502040204020203" pitchFamily="34" charset="0"/>
              </a:rPr>
              <a:t>CampusGrid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ACCE0D-AED8-F4A4-00F4-BF049810CD67}"/>
              </a:ext>
            </a:extLst>
          </p:cNvPr>
          <p:cNvSpPr txBox="1"/>
          <p:nvPr/>
        </p:nvSpPr>
        <p:spPr>
          <a:xfrm>
            <a:off x="762000" y="1905000"/>
            <a:ext cx="10668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000">
                <a:solidFill>
                  <a:srgbClr val="F6D558"/>
                </a:solidFill>
                <a:latin typeface="Segoe UI" panose="020B0502040204020203" pitchFamily="34" charset="0"/>
              </a:rPr>
              <a:t>Campus Space &amp; Seating Management System</a:t>
            </a:r>
            <a:endParaRPr lang="en-IN" sz="2000">
              <a:solidFill>
                <a:srgbClr val="F6D558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0F4DF-5030-853F-8E1C-BD9CCED611EB}"/>
              </a:ext>
            </a:extLst>
          </p:cNvPr>
          <p:cNvSpPr txBox="1"/>
          <p:nvPr/>
        </p:nvSpPr>
        <p:spPr>
          <a:xfrm>
            <a:off x="762000" y="2794000"/>
            <a:ext cx="1066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E1D5CB"/>
                </a:solidFill>
                <a:latin typeface="Segoe UI" panose="020B0502040204020203" pitchFamily="34" charset="0"/>
              </a:rPr>
              <a:t>Project Guide: Er. Ram Babu Buri  |  Specialization: Spring Boot, Java, MySQL, Machine Learning</a:t>
            </a:r>
            <a:endParaRPr lang="en-IN" sz="1300" b="1">
              <a:solidFill>
                <a:srgbClr val="E1D5CB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AC31D8-BE56-1C84-6734-3DF7999EBDD3}"/>
              </a:ext>
            </a:extLst>
          </p:cNvPr>
          <p:cNvSpPr/>
          <p:nvPr/>
        </p:nvSpPr>
        <p:spPr>
          <a:xfrm>
            <a:off x="762000" y="3556000"/>
            <a:ext cx="10668000" cy="2540000"/>
          </a:xfrm>
          <a:prstGeom prst="rect">
            <a:avLst/>
          </a:prstGeom>
          <a:solidFill>
            <a:srgbClr val="1E24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BD449-9D53-5135-44F6-448F9C6093D6}"/>
              </a:ext>
            </a:extLst>
          </p:cNvPr>
          <p:cNvSpPr txBox="1"/>
          <p:nvPr/>
        </p:nvSpPr>
        <p:spPr>
          <a:xfrm>
            <a:off x="1016000" y="3683000"/>
            <a:ext cx="10160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>
                <a:solidFill>
                  <a:srgbClr val="F9F5F1"/>
                </a:solidFill>
                <a:latin typeface="Segoe UI" panose="020B0502040204020203" pitchFamily="34" charset="0"/>
              </a:rPr>
              <a:t>PROJECT DEVELOPMENT TEAM &amp; MODULE DISTRIBUTION:
• Nikhil Kumawat (24E1ARADM30P111) — Module 1: Authentication + User Management
• Palak Nandani (24E1ARADF10P116) — Module 2: Campus &amp; Room Management
• Priyanshu Kumar (24E1ARADM40P126) — Module 3: Timetable + Room Allocation
• Kashish Upadhyay (24E1ARADF40P079) — Module 4: Examination + Seat Allocation
• Bhawni Kumari (24E1ARADF40P032) — Module 5: Student Portal + UI Integration</a:t>
            </a:r>
          </a:p>
        </p:txBody>
      </p:sp>
    </p:spTree>
    <p:extLst>
      <p:ext uri="{BB962C8B-B14F-4D97-AF65-F5344CB8AC3E}">
        <p14:creationId xmlns:p14="http://schemas.microsoft.com/office/powerpoint/2010/main" val="3540274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0B8509-745A-8238-33BF-0C5F6C88E11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6AAC371-0456-F725-2364-27919C063A9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FBACC7-CEF6-78F7-CCDA-6B8F7940788B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PROBLEM STATEMENT &amp; MOTIVATION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E3C63B-E1FF-99BC-10A0-46DC584B44C1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The Campus Infrastructure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A403DE-453C-6189-2D3D-5D16B282F88D}"/>
              </a:ext>
            </a:extLst>
          </p:cNvPr>
          <p:cNvSpPr txBox="1"/>
          <p:nvPr/>
        </p:nvSpPr>
        <p:spPr>
          <a:xfrm>
            <a:off x="635000" y="1333500"/>
            <a:ext cx="6096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Manual &amp; Fragmented Infrastructure Tracking: Universities struggle with paper-based and spreadsheet systems that fail to reflect real-time room occupancy.
• Scheduling &amp; Double-Booking Collisions: Classrooms, lecture halls, and labs frequently encounter simultaneous bookings between regular classes and events.
• High Examination Logistics Burden: Seating hundreds of candidates manually leads to human error, unequal hall distributions, and capacity shortfalls.
• Academic Integrity &amp; Cheating Risks: Without automated alternating seat distribution, adjacent students from the same section easily collaborate during tests.
• Student Information Disconnect: Students lack a centralized digital hub to instantly view their assigned exam halls, timetable classes, and exact seat coordinates.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04A6F9-A637-FADB-2476-51C47533795F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5C91-CE99-0DE5-8403-22B8DF3E6C65}"/>
              </a:ext>
            </a:extLst>
          </p:cNvPr>
          <p:cNvSpPr txBox="1"/>
          <p:nvPr/>
        </p:nvSpPr>
        <p:spPr>
          <a:xfrm>
            <a:off x="7239000" y="1435100"/>
            <a:ext cx="419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Spreadsheet Chaos
</a:t>
            </a:r>
            <a:r>
              <a:rPr lang="en-US" sz="1100">
                <a:solidFill>
                  <a:srgbClr val="F0E8E2"/>
                </a:solidFill>
              </a:rPr>
              <a:t>Disconnected Excel sheets cause </a:t>
            </a:r>
            <a:r>
              <a:rPr lang="en-US">
                <a:solidFill>
                  <a:srgbClr val="F0E8E2"/>
                </a:solidFill>
              </a:rPr>
              <a:t>scheduling chaos and </a:t>
            </a:r>
            <a:r>
              <a:rPr lang="en-US" sz="1100">
                <a:solidFill>
                  <a:srgbClr val="F0E8E2"/>
                </a:solidFill>
              </a:rPr>
              <a:t>double-booking errors across </a:t>
            </a:r>
            <a:r>
              <a:rPr lang="en-US">
                <a:solidFill>
                  <a:srgbClr val="F0E8E2"/>
                </a:solidFill>
              </a:rPr>
              <a:t>departments.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7CC47A-2B1E-6E0B-D5DB-65F12B3DB55C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7223F0-48BD-7966-2D12-13FC59E7D224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Examination Errors
</a:t>
            </a:r>
            <a:r>
              <a:rPr lang="en-US" sz="1100">
                <a:solidFill>
                  <a:srgbClr val="F0E8E2"/>
                </a:solidFill>
              </a:rPr>
              <a:t>Manual candidate allocations result in </a:t>
            </a:r>
            <a:r>
              <a:rPr lang="en-US">
                <a:solidFill>
                  <a:srgbClr val="F0E8E2"/>
                </a:solidFill>
              </a:rPr>
              <a:t>capacity overflows </a:t>
            </a:r>
            <a:r>
              <a:rPr lang="en-US" sz="1100">
                <a:solidFill>
                  <a:srgbClr val="F0E8E2"/>
                </a:solidFill>
              </a:rPr>
              <a:t>and adjacent roll-number cheating.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0DA3C-B143-5D60-5979-EB2A8F0328A7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295189-11F8-553E-F0CD-8C858A97732C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CampusGrid Solution
</a:t>
            </a:r>
            <a:r>
              <a:rPr lang="en-US" sz="1100">
                <a:solidFill>
                  <a:srgbClr val="F0E8E2"/>
                </a:solidFill>
              </a:rPr>
              <a:t>A single, automated, role-based platform </a:t>
            </a:r>
            <a:r>
              <a:rPr lang="en-US">
                <a:solidFill>
                  <a:srgbClr val="F0E8E2"/>
                </a:solidFill>
              </a:rPr>
              <a:t>for spaces, </a:t>
            </a:r>
            <a:r>
              <a:rPr lang="en-US" sz="1100">
                <a:solidFill>
                  <a:srgbClr val="F0E8E2"/>
                </a:solidFill>
              </a:rPr>
              <a:t>timetables, and seating allocation.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779AE9-7D10-72EA-526E-C24B22B3A35D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2 / 15</a:t>
            </a:r>
          </a:p>
        </p:txBody>
      </p:sp>
    </p:spTree>
    <p:extLst>
      <p:ext uri="{BB962C8B-B14F-4D97-AF65-F5344CB8AC3E}">
        <p14:creationId xmlns:p14="http://schemas.microsoft.com/office/powerpoint/2010/main" val="4182138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7B20D89-9C08-90A8-E32A-61E6E320731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07397F-2CD6-7DD2-D17D-91232D1B033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AE2790-C2BB-9348-421C-C321552D1B32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SCOPE &amp;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24555-855F-4750-FD2C-F5D16138C0D4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Project Vision &amp; Unified Architectural Scope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7FD08-F79B-DAFE-C241-54E6C866F504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Centralized Spatial Intelligence: Manage campus physical layout from campus blocks down to floors, rooms, and individual physical seats.
• Zero-Conflict Timetable Scheduling: Automatic verification of room availability against daily academic classes and instructor assignments.
• Anti-Cheating Examination Allocation: Automated, rule-based candidate seat distribution with stable roll-number and alternating section modes.
• Role-Based Access Control (RBAC): Dedicated, secure portals for Administrators, Faculty Invigilators, and Enrolled Students.
• Production-Grade Security: Stateless JWT authentication, Spring Security filters, and IDOR protection on student academic records.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C99C8F-2780-70B4-0E1B-DA6EF384F19E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3E2AD-BA11-DE31-08D3-E7DD5D11697B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5 Modular Pillars
</a:t>
            </a:r>
            <a:r>
              <a:rPr lang="en-US" sz="1100">
                <a:solidFill>
                  <a:srgbClr val="F0E8E2"/>
                </a:solidFill>
              </a:rPr>
              <a:t>Auth, Campus, Timetable, Examination, </a:t>
            </a:r>
            <a:r>
              <a:rPr lang="en-US">
                <a:solidFill>
                  <a:srgbClr val="F0E8E2"/>
                </a:solidFill>
              </a:rPr>
              <a:t>and Student Portal </a:t>
            </a:r>
            <a:r>
              <a:rPr lang="en-US" sz="1100">
                <a:solidFill>
                  <a:srgbClr val="F0E8E2"/>
                </a:solidFill>
              </a:rPr>
              <a:t>working in unified synergy.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7E7D1B-8E5A-C4B9-C78B-843501D47402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4D1E47-BDF9-AA1A-222A-84C7ABDCAEAA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Rule-Based Determinism
</a:t>
            </a:r>
            <a:r>
              <a:rPr lang="en-US" sz="1100">
                <a:solidFill>
                  <a:srgbClr val="F0E8E2"/>
                </a:solidFill>
              </a:rPr>
              <a:t>Pure algorithmic stability ensuring </a:t>
            </a:r>
            <a:r>
              <a:rPr lang="en-US">
                <a:solidFill>
                  <a:srgbClr val="F0E8E2"/>
                </a:solidFill>
              </a:rPr>
              <a:t>predictable and </a:t>
            </a:r>
            <a:r>
              <a:rPr lang="en-US" sz="1100">
                <a:solidFill>
                  <a:srgbClr val="F0E8E2"/>
                </a:solidFill>
              </a:rPr>
              <a:t>reproducible seat layouts.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74CE-9EF3-3DFA-1BFB-15195F0AA535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F7B23D-EB94-83AD-CEAA-AA7A251D7C21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Enterprise Architecture
</a:t>
            </a:r>
            <a:r>
              <a:rPr lang="en-US" sz="1100">
                <a:solidFill>
                  <a:srgbClr val="F0E8E2"/>
                </a:solidFill>
              </a:rPr>
              <a:t>Spring Boot 3, Java 17, JPA/Hibernate, and </a:t>
            </a:r>
            <a:r>
              <a:rPr lang="en-US">
                <a:solidFill>
                  <a:srgbClr val="F0E8E2"/>
                </a:solidFill>
              </a:rPr>
              <a:t>MySQL </a:t>
            </a:r>
            <a:r>
              <a:rPr lang="en-US" sz="1100"/>
              <a:t>relational </a:t>
            </a:r>
            <a:r>
              <a:rPr lang="en-US" sz="1100">
                <a:solidFill>
                  <a:srgbClr val="F0E8E2"/>
                </a:solidFill>
              </a:rPr>
              <a:t>integrity.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9FD510-BDD7-DD31-FA4F-FC70D2321D02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3 / 15</a:t>
            </a:r>
          </a:p>
        </p:txBody>
      </p:sp>
    </p:spTree>
    <p:extLst>
      <p:ext uri="{BB962C8B-B14F-4D97-AF65-F5344CB8AC3E}">
        <p14:creationId xmlns:p14="http://schemas.microsoft.com/office/powerpoint/2010/main" val="1849153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D14DCB-D810-EE2A-A559-0C9DA0BF5E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FD088B4-D6F7-9CEF-BC5C-E841EE1536F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631113-D1A8-C242-2D7B-B14B232E47B3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TECHNOLOGY ARCHITECTURE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6B9275-01BE-1ED1-657B-FFCFA1606417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System Architecture &amp; Enterprise Tech Stack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F1FAB-0A96-6877-9514-668C31EB9179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DBD5D1"/>
                </a:solidFill>
                <a:latin typeface="Segoe UI" panose="020B0502040204020203" pitchFamily="34" charset="0"/>
              </a:rPr>
              <a:t>• Backend Framework: Java 17 LTS with Spring Boot 3.3.4 enterprise layered architecture.
• Persistence &amp; Relational Model: Spring Data JPA + Hibernate ORM with ACID-compliant MySQL database and H2 in-memory development profile.
• Presentation Layer: Modern responsive frontend with HTML5, CSS3, JavaScript (ES6+), Bootstrap 5, and interactive visual matrix.
• Security Layer: Stateless JSON Web Tokens (HMAC-SHA256, 256-bit secret), custom JwtAuthenticationFilter, and granular RBAC.
• Build &amp; Testing Framework: Apache Maven 3.9.9, JUnit 5, Mockito, MockMvc, and Surefire automated test execution suite.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E510227-79C0-8075-A49F-82944DAFE432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6C637B-9C73-2015-4E78-596D3103C0FB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Layered Architecture
</a:t>
            </a:r>
            <a:r>
              <a:rPr lang="en-US" sz="1100">
                <a:solidFill>
                  <a:srgbClr val="F0E8E2"/>
                </a:solidFill>
              </a:rPr>
              <a:t>Clean separation: Presentation UI -&gt; REST </a:t>
            </a:r>
            <a:r>
              <a:rPr lang="en-US">
                <a:solidFill>
                  <a:srgbClr val="F0E8E2"/>
                </a:solidFill>
              </a:rPr>
              <a:t>Controllers -&gt; </a:t>
            </a:r>
            <a:r>
              <a:rPr lang="en-US" sz="1100">
                <a:solidFill>
                  <a:srgbClr val="F0E8E2"/>
                </a:solidFill>
              </a:rPr>
              <a:t>Service Layer -&gt; JPA Repositories.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1C16E1-8EFE-3AF9-CBC9-02DB97F36215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46131-C4DF-09C7-563D-6A941EE5E4F4}"/>
              </a:ext>
            </a:extLst>
          </p:cNvPr>
          <p:cNvSpPr txBox="1"/>
          <p:nvPr/>
        </p:nvSpPr>
        <p:spPr>
          <a:xfrm>
            <a:off x="7239000" y="2641600"/>
            <a:ext cx="419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Dual Database Mode
</a:t>
            </a:r>
            <a:r>
              <a:rPr lang="en-US" sz="1100">
                <a:solidFill>
                  <a:srgbClr val="F0E8E2"/>
                </a:solidFill>
              </a:rPr>
              <a:t>Production MySQL server + zero-</a:t>
            </a:r>
            <a:r>
              <a:rPr lang="en-US">
                <a:solidFill>
                  <a:srgbClr val="F0E8E2"/>
                </a:solidFill>
              </a:rPr>
              <a:t>dependency in-</a:t>
            </a:r>
            <a:r>
              <a:rPr lang="en-US" sz="1100"/>
              <a:t>memory H2 </a:t>
            </a:r>
            <a:r>
              <a:rPr lang="en-US" sz="1100">
                <a:solidFill>
                  <a:srgbClr val="F0E8E2"/>
                </a:solidFill>
              </a:rPr>
              <a:t>dev profile for seamless </a:t>
            </a:r>
            <a:r>
              <a:rPr lang="en-US">
                <a:solidFill>
                  <a:srgbClr val="F0E8E2"/>
                </a:solidFill>
              </a:rPr>
              <a:t>deployment.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936ADB-5B6A-C2BA-DAE4-1ECEF9AEB1C3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28543F-B3CA-8C71-7AB1-F456B48EBC50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Comprehensive Suite
</a:t>
            </a:r>
            <a:r>
              <a:rPr lang="en-US" sz="1100">
                <a:solidFill>
                  <a:srgbClr val="F0E8E2"/>
                </a:solidFill>
              </a:rPr>
              <a:t>140 automated tests certifying 100% test </a:t>
            </a:r>
            <a:r>
              <a:rPr lang="en-US">
                <a:solidFill>
                  <a:srgbClr val="F0E8E2"/>
                </a:solidFill>
              </a:rPr>
              <a:t>pass rate across </a:t>
            </a:r>
            <a:r>
              <a:rPr lang="en-US" sz="1100">
                <a:solidFill>
                  <a:srgbClr val="F0E8E2"/>
                </a:solidFill>
              </a:rPr>
              <a:t>all system modules.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37231-CE0C-87F1-AB64-B487A8817102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4 / 15</a:t>
            </a:r>
          </a:p>
        </p:txBody>
      </p:sp>
    </p:spTree>
    <p:extLst>
      <p:ext uri="{BB962C8B-B14F-4D97-AF65-F5344CB8AC3E}">
        <p14:creationId xmlns:p14="http://schemas.microsoft.com/office/powerpoint/2010/main" val="28045435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48E9E3-9F50-7842-15C4-0CCC8DB23F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2D3D3B-3341-985B-A774-5498BCC102A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BD48E-834B-1B87-372E-BA3E509B0F2E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MODULE BREAKDOWN | LEAD: NIKHIL KUMAWAT (24E1ARADM30P111)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686CD-012A-0BBD-94FD-24211E4EACC0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Module 1: Authentication &amp; User Management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CA4EA-4110-01FF-F406-6CBF4CE160C3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DBD5D1"/>
                </a:solidFill>
                <a:latin typeface="Segoe UI" panose="020B0502040204020203" pitchFamily="34" charset="0"/>
              </a:rPr>
              <a:t>• Unified User Entity &amp; Profiles: Central management for all institutional stakeholders (ADMIN, FACULTY, STUDENT) with polymorphic associations.
• Cryptographic Password Security: BCrypt hashing with configurable cost factor; plain-text passwords never stored in database.
• Stateless JWT Authentication: Custom JwtService generating access tokens (15-min expiry) and refresh tokens (7-day lifecycle).
• Primary Administrator Protection: Hardened system safeguards preventing deletion or deactivation of the root institutional administrator.
• Comprehensive Security Auditing: Protection against unauthorized role elevation, brute-force attempts, and malicious CSV injections.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BE079-F282-444A-5A5A-29C33A98EDD4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77A635-18CA-0B7D-0BAC-8D43A82ED3B7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Stateless Auth
</a:t>
            </a:r>
            <a:r>
              <a:rPr lang="en-US" sz="1100">
                <a:solidFill>
                  <a:srgbClr val="F0E8E2"/>
                </a:solidFill>
              </a:rPr>
              <a:t>Secure JWT headers carrying </a:t>
            </a:r>
            <a:r>
              <a:rPr lang="en-US">
                <a:solidFill>
                  <a:srgbClr val="F0E8E2"/>
                </a:solidFill>
              </a:rPr>
              <a:t>authenticated principal </a:t>
            </a:r>
            <a:r>
              <a:rPr lang="en-US" sz="1100">
                <a:solidFill>
                  <a:srgbClr val="F0E8E2"/>
                </a:solidFill>
              </a:rPr>
              <a:t>identity and role authorities.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872B4F-3837-BAFA-06DF-8B854C64ACD6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24FCBD-3485-A845-C491-92324A833CB0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RBAC Matrix
</a:t>
            </a:r>
            <a:r>
              <a:rPr lang="en-US" sz="1100">
                <a:solidFill>
                  <a:srgbClr val="F0E8E2"/>
                </a:solidFill>
              </a:rPr>
              <a:t>ADMIN (full CRUD), FACULTY (rosters &amp; </a:t>
            </a:r>
            <a:r>
              <a:rPr lang="en-US">
                <a:solidFill>
                  <a:srgbClr val="F0E8E2"/>
                </a:solidFill>
              </a:rPr>
              <a:t>attendance), </a:t>
            </a:r>
            <a:r>
              <a:rPr lang="en-US" sz="1100">
                <a:solidFill>
                  <a:srgbClr val="F0E8E2"/>
                </a:solidFill>
              </a:rPr>
              <a:t>STUDENT (personal schedule view).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4C91DD-4D81-9D92-A52B-1A4CB2B4FD0E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08BCA-C36D-E376-EF43-42004F3542CC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Security Verified
</a:t>
            </a:r>
            <a:r>
              <a:rPr lang="en-US" sz="1100">
                <a:solidFill>
                  <a:srgbClr val="F0E8E2"/>
                </a:solidFill>
              </a:rPr>
              <a:t>Verified by AuthControllerSecurityTest and </a:t>
            </a:r>
            <a:r>
              <a:rPr lang="en-US">
                <a:solidFill>
                  <a:srgbClr val="F0E8E2"/>
                </a:solidFill>
              </a:rPr>
              <a:t>UserServiceTest </a:t>
            </a:r>
            <a:r>
              <a:rPr lang="en-US" sz="1100">
                <a:solidFill>
                  <a:srgbClr val="F0E8E2"/>
                </a:solidFill>
              </a:rPr>
              <a:t>suites.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16EF0-C16D-7BC3-E5FE-0D54095A8130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5 / 15</a:t>
            </a:r>
          </a:p>
        </p:txBody>
      </p:sp>
    </p:spTree>
    <p:extLst>
      <p:ext uri="{BB962C8B-B14F-4D97-AF65-F5344CB8AC3E}">
        <p14:creationId xmlns:p14="http://schemas.microsoft.com/office/powerpoint/2010/main" val="3360819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EF6F62-443B-5C62-9CC4-B6C678190C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543AA6-2A81-44CF-768D-E8FFA55CA99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47603D-EFA5-C96D-6728-A9DB9904D602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MODULE BREAKDOWN | LEAD: PALAK NANDANI (24E1ARADF10P116)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1E81B8-4616-4ED9-1925-21753164E704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Module 2: Campus, Room &amp; Physical Seating Layout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8B4292-2B1A-CCA0-58B4-37D0C72CFD5B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Spatial Hierarchy Model: Hierarchical data modeling: Campus -&gt; Building Block -&gt; Floor -&gt; Room with foreign key referential integrity.
• Room Classification &amp; Constraints: Categorization into Classroom, Laboratory, and Auditorium with nominal capacity limits.
• Interactive Physical Seating Generator: Dynamic generation of physical seat matrix with exact row and column coordinates.
• Seat Operational Statuses: Granular seat states: AVAILABLE, BLOCKED, and MAINTENANCE with permanent, stable database IDs.
• Non-Destructive Layout Regeneration: Expansion or shrinkage of room grid while preserving existing seat IDs and blocked statuses.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831F38-D102-728E-3A21-08FA74F5304F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15C84B-B4C8-20E9-E2EC-0605B1F58B96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Physical Seat Model
</a:t>
            </a:r>
            <a:r>
              <a:rPr lang="en-US" sz="1100">
                <a:solidFill>
                  <a:srgbClr val="F0E8E2"/>
                </a:solidFill>
              </a:rPr>
              <a:t>Each chair has a persistent primary key, </a:t>
            </a:r>
            <a:r>
              <a:rPr lang="en-US">
                <a:solidFill>
                  <a:srgbClr val="F0E8E2"/>
                </a:solidFill>
              </a:rPr>
              <a:t>seat number (R1-</a:t>
            </a:r>
            <a:r>
              <a:rPr lang="en-US" sz="1100">
                <a:solidFill>
                  <a:srgbClr val="F0E8E2"/>
                </a:solidFill>
              </a:rPr>
              <a:t>C1), row label, and active status.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4A6F067-CF16-5381-6519-300228F1B439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C60AE1-6B0F-C09F-341B-F95FE84389EC}"/>
              </a:ext>
            </a:extLst>
          </p:cNvPr>
          <p:cNvSpPr txBox="1"/>
          <p:nvPr/>
        </p:nvSpPr>
        <p:spPr>
          <a:xfrm>
            <a:off x="7239000" y="2641600"/>
            <a:ext cx="419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Maintenance Tracking
</a:t>
            </a:r>
            <a:r>
              <a:rPr lang="en-US" sz="1100">
                <a:solidFill>
                  <a:srgbClr val="F0E8E2"/>
                </a:solidFill>
              </a:rPr>
              <a:t>Broken chairs or damaged terminals </a:t>
            </a:r>
            <a:r>
              <a:rPr lang="en-US">
                <a:solidFill>
                  <a:srgbClr val="F0E8E2"/>
                </a:solidFill>
              </a:rPr>
              <a:t>marked </a:t>
            </a:r>
            <a:r>
              <a:rPr lang="en-US" sz="1100"/>
              <a:t>MAINTENANCE to </a:t>
            </a:r>
            <a:r>
              <a:rPr lang="en-US" sz="1100">
                <a:solidFill>
                  <a:srgbClr val="F0E8E2"/>
                </a:solidFill>
              </a:rPr>
              <a:t>prevent seat </a:t>
            </a:r>
            <a:r>
              <a:rPr lang="en-US">
                <a:solidFill>
                  <a:srgbClr val="F0E8E2"/>
                </a:solidFill>
              </a:rPr>
              <a:t>assignment.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D23104-6364-0644-444D-7B9C91F0E03F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9647DA-FC01-1489-0DC5-1A7E51349267}"/>
              </a:ext>
            </a:extLst>
          </p:cNvPr>
          <p:cNvSpPr txBox="1"/>
          <p:nvPr/>
        </p:nvSpPr>
        <p:spPr>
          <a:xfrm>
            <a:off x="7239000" y="3848100"/>
            <a:ext cx="4191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Layout Preserved
</a:t>
            </a:r>
            <a:r>
              <a:rPr lang="en-US" sz="1100">
                <a:solidFill>
                  <a:srgbClr val="F0E8E2"/>
                </a:solidFill>
              </a:rPr>
              <a:t>Verified by SeatingLayoutServiceTest and </a:t>
            </a:r>
            <a:r>
              <a:rPr lang="en-US">
                <a:solidFill>
                  <a:srgbClr val="F0E8E2"/>
                </a:solidFill>
              </a:rPr>
              <a:t>SpaceServiceTest.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AF518E-ED12-CA27-4A9C-998F9C9332C3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6 / 15</a:t>
            </a:r>
          </a:p>
        </p:txBody>
      </p:sp>
    </p:spTree>
    <p:extLst>
      <p:ext uri="{BB962C8B-B14F-4D97-AF65-F5344CB8AC3E}">
        <p14:creationId xmlns:p14="http://schemas.microsoft.com/office/powerpoint/2010/main" val="491157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0B92B4-35A1-16D6-602F-3C26CF9748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3B6A05-3D53-71AD-9CB2-3F4D0F5993E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DC828-A4EC-1A59-6E44-5FB6EAA669F6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MODULE BREAKDOWN | LEAD: PRIYANSHU KUMAR (24E1ARADM40P126)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79214B-70A0-34AE-BA8A-FA7C2ECC3C5B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Module 3: Timetable &amp; Room Allocation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A0F102-E84A-1FC9-1131-71813EF03531}"/>
              </a:ext>
            </a:extLst>
          </p:cNvPr>
          <p:cNvSpPr txBox="1"/>
          <p:nvPr/>
        </p:nvSpPr>
        <p:spPr>
          <a:xfrm>
            <a:off x="635000" y="1333500"/>
            <a:ext cx="6096000" cy="30931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Academic Schedule Management: Creation, updating, and filtering of recurring class schedules by Department, Semester, Section, and Day of Week.
• Half-Open Time Collision Engine: Implementation of mathematical half-open interval overlap check: (A_start &lt; B_end AND B_start &lt; A_end).
• Tri-Factor Conflict Prevention: Automated detection preventing: 1. Room double-booking, 2. Instructor simultaneous assignment, and 3. Student group clashes.
• Adjacent Slot Optimization: Correctly handles back-to-back classes without generating false positive conflict alerts.
• Schedule Visibility: Room occupancy timelines and faculty weekly workload directories.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B04263-DB02-FC37-D6A2-99C97AC879AF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D5DA66-642F-1594-BAC7-96AF0D8594A6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Conflict Query
</a:t>
            </a:r>
            <a:r>
              <a:rPr lang="en-US" sz="1100">
                <a:solidFill>
                  <a:srgbClr val="F0E8E2"/>
                </a:solidFill>
              </a:rPr>
              <a:t>Custom JPA JPQL queries detecting </a:t>
            </a:r>
            <a:r>
              <a:rPr lang="en-US">
                <a:solidFill>
                  <a:srgbClr val="F0E8E2"/>
                </a:solidFill>
              </a:rPr>
              <a:t>overlapping time </a:t>
            </a:r>
            <a:r>
              <a:rPr lang="en-US" sz="1100">
                <a:solidFill>
                  <a:srgbClr val="F0E8E2"/>
                </a:solidFill>
              </a:rPr>
              <a:t>intervals across room and faculty.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19A63A-A90B-A07B-CA93-AE99BA46DB77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493646-BA7B-9C64-68F0-79B6CA8E8B2E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Dynamic Resolution
</a:t>
            </a:r>
            <a:r>
              <a:rPr lang="en-US" sz="1100">
                <a:solidFill>
                  <a:srgbClr val="F0E8E2"/>
                </a:solidFill>
              </a:rPr>
              <a:t>Instant validation with clear error </a:t>
            </a:r>
            <a:r>
              <a:rPr lang="en-US">
                <a:solidFill>
                  <a:srgbClr val="F0E8E2"/>
                </a:solidFill>
              </a:rPr>
              <a:t>messages reporting </a:t>
            </a:r>
            <a:r>
              <a:rPr lang="en-US" sz="1100">
                <a:solidFill>
                  <a:srgbClr val="F0E8E2"/>
                </a:solidFill>
              </a:rPr>
              <a:t>conflicting subject and timing.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936A82-4496-8E55-2AA2-BB6B6CA25D96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84A0AC-5993-2F19-90F1-ED8A4C525F3B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Concurrency Safe
</a:t>
            </a:r>
            <a:r>
              <a:rPr lang="en-US" sz="1100">
                <a:solidFill>
                  <a:srgbClr val="F0E8E2"/>
                </a:solidFill>
              </a:rPr>
              <a:t>Verified by </a:t>
            </a:r>
            <a:r>
              <a:rPr lang="en-US" sz="1100"/>
              <a:t>TimetableConflictAndConcurrencyTest and </a:t>
            </a:r>
            <a:r>
              <a:rPr lang="en-US">
                <a:solidFill>
                  <a:srgbClr val="F0E8E2"/>
                </a:solidFill>
              </a:rPr>
              <a:t>TimetableServiceTest.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3A470A-A713-F179-E38F-1F00426FA029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7 / 15</a:t>
            </a:r>
          </a:p>
        </p:txBody>
      </p:sp>
    </p:spTree>
    <p:extLst>
      <p:ext uri="{BB962C8B-B14F-4D97-AF65-F5344CB8AC3E}">
        <p14:creationId xmlns:p14="http://schemas.microsoft.com/office/powerpoint/2010/main" val="13304203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2D1EF9-C9A2-8383-F9A6-2D9B6A3BD8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70D26A-725A-68E9-8078-6BD7489549A4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9C7E5-6291-522E-1EEE-24865F4C24F3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MODULE BREAKDOWN | LEAD: KASHISH UPADHYAY (24E1ARADF40P079)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89E1B-6A76-4822-B802-765BF36C08DF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Module 4: Examination Scheduling &amp; Room Allocation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9AD797-065C-90FA-FD8F-A9736EABE0D2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Formal Lifecycle State Machine: Strict status progression: DRAFT -&gt; SCHEDULED -&gt; ALLOCATION_IN_PROGRESS -&gt; ALLOCATION_COMPLETE -&gt; CANCELLED.
• Candidate Selection &amp; Eligibility: Automatic discovery of enrolled students filtered by Department, Semester, Section, or explicit ID lists.
• Inactive Student Safeguard: Inactive or suspended user accounts are strictly filtered out; only verified active students are seated.
• Multi-Hall Allocation: Multiple examination rooms can be allocated to a single examination session to satisfy large cohort requirements.
• Cross-Module Collision Check: Checks proposed exam times against overlapping exam sessions AND Module 3 regular timetable classes.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29271D-C2CA-6819-148C-3186C2B86FE9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85B72-E11D-7F7F-BFB3-6B2442562028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Usable vs Nominal
</a:t>
            </a:r>
            <a:r>
              <a:rPr lang="en-US" sz="1100">
                <a:solidFill>
                  <a:srgbClr val="F0E8E2"/>
                </a:solidFill>
              </a:rPr>
              <a:t>Distinguishes room capacity from usable </a:t>
            </a:r>
            <a:r>
              <a:rPr lang="en-US">
                <a:solidFill>
                  <a:srgbClr val="F0E8E2"/>
                </a:solidFill>
              </a:rPr>
              <a:t>seats (excludes </a:t>
            </a:r>
            <a:r>
              <a:rPr lang="en-US" sz="1100">
                <a:solidFill>
                  <a:srgbClr val="F0E8E2"/>
                </a:solidFill>
              </a:rPr>
              <a:t>BLOCKED, MAINTENANCE, and aisles).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23B3B6-0711-807F-F897-904E7376D0A4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CBFECC-DC07-734F-C261-0D67B577A2A0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Audit-Ready Logs
</a:t>
            </a:r>
            <a:r>
              <a:rPr lang="en-US" sz="1100">
                <a:solidFill>
                  <a:srgbClr val="F0E8E2"/>
                </a:solidFill>
              </a:rPr>
              <a:t>Records examination code, timestamps, </a:t>
            </a:r>
            <a:r>
              <a:rPr lang="en-US">
                <a:solidFill>
                  <a:srgbClr val="F0E8E2"/>
                </a:solidFill>
              </a:rPr>
              <a:t>max marks, </a:t>
            </a:r>
            <a:r>
              <a:rPr lang="en-US" sz="1100"/>
              <a:t>duration, </a:t>
            </a:r>
            <a:r>
              <a:rPr lang="en-US" sz="1100">
                <a:solidFill>
                  <a:srgbClr val="F0E8E2"/>
                </a:solidFill>
              </a:rPr>
              <a:t>and invigilator details.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1B77A-4095-FD9E-AAAC-90ADF2624ABB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215489-C38F-7DEC-8024-7EB6D591672B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Cancellation Policy
</a:t>
            </a:r>
            <a:r>
              <a:rPr lang="en-US" sz="1100">
                <a:solidFill>
                  <a:srgbClr val="F0E8E2"/>
                </a:solidFill>
              </a:rPr>
              <a:t>Cancelling an exam instantly frees booked </a:t>
            </a:r>
            <a:r>
              <a:rPr lang="en-US">
                <a:solidFill>
                  <a:srgbClr val="F0E8E2"/>
                </a:solidFill>
              </a:rPr>
              <a:t>seats and </a:t>
            </a:r>
            <a:r>
              <a:rPr lang="en-US" sz="1100"/>
              <a:t>updates </a:t>
            </a:r>
            <a:r>
              <a:rPr lang="en-US" sz="1100">
                <a:solidFill>
                  <a:srgbClr val="F0E8E2"/>
                </a:solidFill>
              </a:rPr>
              <a:t>cancellation reason.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AC0515-1BB7-3531-9EAE-C01DA2DC987E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8 / 15</a:t>
            </a:r>
          </a:p>
        </p:txBody>
      </p:sp>
    </p:spTree>
    <p:extLst>
      <p:ext uri="{BB962C8B-B14F-4D97-AF65-F5344CB8AC3E}">
        <p14:creationId xmlns:p14="http://schemas.microsoft.com/office/powerpoint/2010/main" val="99895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C10F12-F3A6-4104-5CFD-91439CC654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9664A5-9F56-FFC3-E295-A5B419087E4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69DDC-12C6-BC88-A40D-8C8A8961F811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MODULE BREAKDOWN | LEAD: KASHISH UPADHYAY (24E1ARADF40P079)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110B8D-7779-22C6-A71F-1DDCE7A0F212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Module 4: Anti-Cheating Physical Seat Allocation Engine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C915F-7081-46F1-B653-E124DDF984BA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Pure Deterministic Seating Engine: ExamSeatingEngine operates purely on algorithmic rules without unpredictable AI or random drift.
• Anti-Cheating Alternation Strategy: Interleaves candidates across adjacent physical seats (Sec A -&gt; Sec B -&gt; Sec A -&gt; Sec B) so peers never sit adjacent.
• Spaced Gap Distribution: Optional spacing mode leaving alternating seats vacant (spacingGap = 1) for high-stakes examinations.
• Unusable Seat Exclusion: BLOCKED, MAINTENANCE, and AISLE_GAP walkway coordinates are strictly skipped by the engine.
• All-or-Nothing Transactional Safety: If candidate count exceeds usable seats, an exception is thrown with exact deficit; status cleanly rolls back to SCHEDULED.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6D3218-D183-0B76-8D04-4A1666543A34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EEC34D-4F71-4E7C-575D-619377A908C1}"/>
              </a:ext>
            </a:extLst>
          </p:cNvPr>
          <p:cNvSpPr txBox="1"/>
          <p:nvPr/>
        </p:nvSpPr>
        <p:spPr>
          <a:xfrm>
            <a:off x="7239000" y="1435100"/>
            <a:ext cx="419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Zero Double-Booking
</a:t>
            </a:r>
            <a:r>
              <a:rPr lang="en-US" sz="1100">
                <a:solidFill>
                  <a:srgbClr val="F0E8E2"/>
                </a:solidFill>
              </a:rPr>
              <a:t>Enforced by compound database unique </a:t>
            </a:r>
            <a:r>
              <a:rPr lang="en-US">
                <a:solidFill>
                  <a:srgbClr val="F0E8E2"/>
                </a:solidFill>
              </a:rPr>
              <a:t>constraints: </a:t>
            </a:r>
            <a:r>
              <a:rPr lang="en-US" sz="1100">
                <a:solidFill>
                  <a:srgbClr val="F0E8E2"/>
                </a:solidFill>
              </a:rPr>
              <a:t>(exam_id, student_id) and (exam_id, </a:t>
            </a:r>
            <a:r>
              <a:rPr lang="en-US">
                <a:solidFill>
                  <a:srgbClr val="F0E8E2"/>
                </a:solidFill>
              </a:rPr>
              <a:t>seat_id).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7764533-61C2-669F-AA34-B76D70AA04B6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AE4BD0-5077-2FA5-8333-4D8D7C3441A3}"/>
              </a:ext>
            </a:extLst>
          </p:cNvPr>
          <p:cNvSpPr txBox="1"/>
          <p:nvPr/>
        </p:nvSpPr>
        <p:spPr>
          <a:xfrm>
            <a:off x="7239000" y="2641600"/>
            <a:ext cx="419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Interactive Matrix
</a:t>
            </a:r>
            <a:r>
              <a:rPr lang="en-US" sz="1100">
                <a:solidFill>
                  <a:srgbClr val="F0E8E2"/>
                </a:solidFill>
              </a:rPr>
              <a:t>Color-coded visual classroom layout: </a:t>
            </a:r>
            <a:r>
              <a:rPr lang="en-US">
                <a:solidFill>
                  <a:srgbClr val="F0E8E2"/>
                </a:solidFill>
              </a:rPr>
              <a:t>Green (Allocated), </a:t>
            </a:r>
            <a:r>
              <a:rPr lang="en-US" sz="1100">
                <a:solidFill>
                  <a:srgbClr val="F0E8E2"/>
                </a:solidFill>
              </a:rPr>
              <a:t>Gray (Available), Amber (Aisle), Red </a:t>
            </a:r>
            <a:r>
              <a:rPr lang="en-US">
                <a:solidFill>
                  <a:srgbClr val="F0E8E2"/>
                </a:solidFill>
              </a:rPr>
              <a:t>(Blocked).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5AB137-DA11-3ACD-EC40-2B78DF9A6688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AB5510-C240-9CBF-17D6-82550D15263F}"/>
              </a:ext>
            </a:extLst>
          </p:cNvPr>
          <p:cNvSpPr txBox="1"/>
          <p:nvPr/>
        </p:nvSpPr>
        <p:spPr>
          <a:xfrm>
            <a:off x="7239000" y="3848100"/>
            <a:ext cx="4191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100% Tested
</a:t>
            </a:r>
            <a:r>
              <a:rPr lang="en-US" sz="1100">
                <a:solidFill>
                  <a:srgbClr val="F0E8E2"/>
                </a:solidFill>
              </a:rPr>
              <a:t>Verified by ExamSeatingEngineTest and </a:t>
            </a:r>
            <a:r>
              <a:rPr lang="en-US">
                <a:solidFill>
                  <a:srgbClr val="F0E8E2"/>
                </a:solidFill>
              </a:rPr>
              <a:t>ExamServiceTest.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5D1A7-F911-FEEB-5172-2B64E81E1A25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9 / 15</a:t>
            </a:r>
          </a:p>
        </p:txBody>
      </p:sp>
    </p:spTree>
    <p:extLst>
      <p:ext uri="{BB962C8B-B14F-4D97-AF65-F5344CB8AC3E}">
        <p14:creationId xmlns:p14="http://schemas.microsoft.com/office/powerpoint/2010/main" val="4049261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0C26DF-40A9-3834-5BA9-03DBD44BA8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6FBC7C-369B-6D24-8891-B9B50EAB847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30774-4F67-D995-E1B8-EAC8D18D1F5B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MODULE BREAKDOWN | LEAD: BHAWNI KUMARI (24E1ARADF40P032)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DF6F37-086C-8494-AFBB-E38E6F4E130E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da-DK" sz="2400" b="1">
                <a:solidFill>
                  <a:srgbClr val="FFFFFF"/>
                </a:solidFill>
                <a:latin typeface="Segoe UI" panose="020B0502040204020203" pitchFamily="34" charset="0"/>
              </a:rPr>
              <a:t>Module 5: Student Portal &amp; UI Integration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A1B886-856B-F728-F3A7-44B78E0A6526}"/>
              </a:ext>
            </a:extLst>
          </p:cNvPr>
          <p:cNvSpPr txBox="1"/>
          <p:nvPr/>
        </p:nvSpPr>
        <p:spPr>
          <a:xfrm>
            <a:off x="635000" y="1333500"/>
            <a:ext cx="6096000" cy="30931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Student Personal Dashboard: Centralized portal providing enrolled students instant visibility into academic schedules, classes, and exams.
• IDOR-Protected Seat Locator: Secure REST endpoint /api/student/examinations/{id}/allocation extracting student identity solely from validated JWT.
• Real-Time Academic Schedule: Displays daily classes, subject codes, faculty names, block locations, and room numbers.
• Mobile-Responsive Experience: Modern card-based UI optimized for desktops, tablets, and smartphones.
• System Notifications &amp; Alerts: Broadcast announcements regarding examination updates, schedule revisions, and room changes.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CD666F-35AA-E3DE-B6AB-229E7B054129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B8A68B-3357-9FD7-A56E-2AFD91846C4D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Privacy First
</a:t>
            </a:r>
            <a:r>
              <a:rPr lang="en-US" sz="1100">
                <a:solidFill>
                  <a:srgbClr val="F0E8E2"/>
                </a:solidFill>
              </a:rPr>
              <a:t>Strict isolation: students cannot access or </a:t>
            </a:r>
            <a:r>
              <a:rPr lang="en-US">
                <a:solidFill>
                  <a:srgbClr val="F0E8E2"/>
                </a:solidFill>
              </a:rPr>
              <a:t>query another </a:t>
            </a:r>
            <a:r>
              <a:rPr lang="en-US" sz="1100">
                <a:solidFill>
                  <a:srgbClr val="F0E8E2"/>
                </a:solidFill>
              </a:rPr>
              <a:t>peer's exam seat or timetable.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C450A4-67F0-2DAF-AA38-F7F77416E013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B31CB-C0C3-CF6C-9A6B-D83787E98DEA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Live Seat Details
</a:t>
            </a:r>
            <a:r>
              <a:rPr lang="en-US" sz="1100">
                <a:solidFill>
                  <a:srgbClr val="F0E8E2"/>
                </a:solidFill>
              </a:rPr>
              <a:t>Shows exam date, hall code, block name, </a:t>
            </a:r>
            <a:r>
              <a:rPr lang="en-US">
                <a:solidFill>
                  <a:srgbClr val="F0E8E2"/>
                </a:solidFill>
              </a:rPr>
              <a:t>seat number (e.g. </a:t>
            </a:r>
            <a:r>
              <a:rPr lang="en-US" sz="1100">
                <a:solidFill>
                  <a:srgbClr val="F0E8E2"/>
                </a:solidFill>
              </a:rPr>
              <a:t>R1-C1), and instructions.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4FD3C2-68A8-4B42-9E67-CD2232D32807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663380-F1C4-F6E5-E08A-8752ED3A9D4B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Security Verified
</a:t>
            </a:r>
            <a:r>
              <a:rPr lang="en-US" sz="1100">
                <a:solidFill>
                  <a:srgbClr val="F0E8E2"/>
                </a:solidFill>
              </a:rPr>
              <a:t>Verified by </a:t>
            </a:r>
            <a:r>
              <a:rPr lang="en-US">
                <a:solidFill>
                  <a:srgbClr val="F0E8E2"/>
                </a:solidFill>
              </a:rPr>
              <a:t>StudentPortalControllerSecurityTest </a:t>
            </a:r>
            <a:r>
              <a:rPr lang="en-US" sz="1100">
                <a:solidFill>
                  <a:srgbClr val="F0E8E2"/>
                </a:solidFill>
              </a:rPr>
              <a:t>and StudentPrivacyAndSecurityAuditTest.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A513B5-0BDA-83F5-3734-113506E4EB8D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10 / 15</a:t>
            </a:r>
          </a:p>
        </p:txBody>
      </p:sp>
    </p:spTree>
    <p:extLst>
      <p:ext uri="{BB962C8B-B14F-4D97-AF65-F5344CB8AC3E}">
        <p14:creationId xmlns:p14="http://schemas.microsoft.com/office/powerpoint/2010/main" val="19187845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FF12EB5-C3C4-11B8-D2B8-00C4EA3094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1F6D1B-E817-E82B-AA25-BBD2952B62C0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18A618-F9CD-69C1-07F7-8F7801F19FCD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DATA ARCHITECTURE &amp; INTEGRITY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1C570-C52F-6785-8882-6EF741C1AB6B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Database Relational Schema &amp; Data Integrity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4F41D0-1211-AAD0-5CF3-E28E1C64F687}"/>
              </a:ext>
            </a:extLst>
          </p:cNvPr>
          <p:cNvSpPr txBox="1"/>
          <p:nvPr/>
        </p:nvSpPr>
        <p:spPr>
          <a:xfrm>
            <a:off x="635000" y="1333500"/>
            <a:ext cx="6096000" cy="30931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Clean Relational Schema: 12 interconnected tables adhering to 3rd Normal Form (3NF) with strict foreign keys and referential integrity.
• Core Entities: users, students, faculty, campuses, blocks, floors, rooms, physical_seats, timetable_entries, exam_sessions, exam_room_allocations, exam_seat_allocations.
• Compound Uniqueness Constraints: Hardened database-level unique constraints preventing race conditions and double bookings.
• Historical Coordinate Preservation: ExamSeatAllocation denormalizes seat numbers, rows, and columns to protect historical audit data.
• Cascade Deletion Safeguards: Deleting or cancelling an examination clears only seat assignments; physical rooms and chairs remain untouched.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D53D52-3C78-028A-CD2B-98DC630B28AF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4B4BF-7CB1-184F-F31B-F0349F1C5F99}"/>
              </a:ext>
            </a:extLst>
          </p:cNvPr>
          <p:cNvSpPr txBox="1"/>
          <p:nvPr/>
        </p:nvSpPr>
        <p:spPr>
          <a:xfrm>
            <a:off x="7239000" y="1435100"/>
            <a:ext cx="419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ACID Compliant
</a:t>
            </a:r>
            <a:r>
              <a:rPr lang="en-US" sz="1100">
                <a:solidFill>
                  <a:srgbClr val="F0E8E2"/>
                </a:solidFill>
              </a:rPr>
              <a:t>All allocation, rescheduling, and </a:t>
            </a:r>
            <a:r>
              <a:rPr lang="en-US">
                <a:solidFill>
                  <a:srgbClr val="F0E8E2"/>
                </a:solidFill>
              </a:rPr>
              <a:t>cancellation mutations </a:t>
            </a:r>
            <a:r>
              <a:rPr lang="en-US" sz="1100">
                <a:solidFill>
                  <a:srgbClr val="F0E8E2"/>
                </a:solidFill>
              </a:rPr>
              <a:t>execute inside Spring @Transactional </a:t>
            </a:r>
            <a:r>
              <a:rPr lang="en-US">
                <a:solidFill>
                  <a:srgbClr val="F0E8E2"/>
                </a:solidFill>
              </a:rPr>
              <a:t>boundaries.</a:t>
            </a:r>
            <a:endParaRPr lang="en-IN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6F0CF6-0DA7-EE1D-C6C7-6C7638AF0479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B3D2F9-5658-98ED-9E30-26ECDAB1FF99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Zero Orphaned Data
</a:t>
            </a:r>
            <a:r>
              <a:rPr lang="en-US" sz="1100">
                <a:solidFill>
                  <a:srgbClr val="F0E8E2"/>
                </a:solidFill>
              </a:rPr>
              <a:t>Foreign keys and lifecycle cascade policies </a:t>
            </a:r>
            <a:r>
              <a:rPr lang="en-US">
                <a:solidFill>
                  <a:srgbClr val="F0E8E2"/>
                </a:solidFill>
              </a:rPr>
              <a:t>prevent ghost </a:t>
            </a:r>
            <a:r>
              <a:rPr lang="en-US" sz="1100">
                <a:solidFill>
                  <a:srgbClr val="F0E8E2"/>
                </a:solidFill>
              </a:rPr>
              <a:t>records or dangling references.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53B3E5-2420-47C0-743A-4735E94C1CA2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FAF5A-E127-8B25-EBBD-C7003E21F8F2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Production Ready
</a:t>
            </a:r>
            <a:r>
              <a:rPr lang="en-US" sz="1100">
                <a:solidFill>
                  <a:srgbClr val="F0E8E2"/>
                </a:solidFill>
              </a:rPr>
              <a:t>Seamless execution on both MySQL 8.x </a:t>
            </a:r>
            <a:r>
              <a:rPr lang="en-US">
                <a:solidFill>
                  <a:srgbClr val="F0E8E2"/>
                </a:solidFill>
              </a:rPr>
              <a:t>and in-memory H2 </a:t>
            </a:r>
            <a:r>
              <a:rPr lang="en-US" sz="1100">
                <a:solidFill>
                  <a:srgbClr val="F0E8E2"/>
                </a:solidFill>
              </a:rPr>
              <a:t>development environments.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7625DE-FCF3-89BA-612A-5535FB0F1D22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11 / 15</a:t>
            </a:r>
          </a:p>
        </p:txBody>
      </p:sp>
    </p:spTree>
    <p:extLst>
      <p:ext uri="{BB962C8B-B14F-4D97-AF65-F5344CB8AC3E}">
        <p14:creationId xmlns:p14="http://schemas.microsoft.com/office/powerpoint/2010/main" val="31237271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971D1F-6282-C57F-0AB0-BBD4E5260A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36933-E5F4-B985-440C-4FFB8250685A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4C08BF-1137-ACD4-416D-C67AB807FD81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SECURITY &amp; QUALITY ASSURANCE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C21731-8904-C6B0-DD4F-1333F99715D2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Application Security &amp; Data Privacy Audit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ADE1C3-77CF-0FB5-2567-F9063365B8CF}"/>
              </a:ext>
            </a:extLst>
          </p:cNvPr>
          <p:cNvSpPr txBox="1"/>
          <p:nvPr/>
        </p:nvSpPr>
        <p:spPr>
          <a:xfrm>
            <a:off x="635000" y="1333500"/>
            <a:ext cx="6096000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DBD5D1"/>
                </a:solidFill>
                <a:latin typeface="Segoe UI" panose="020B0502040204020203" pitchFamily="34" charset="0"/>
              </a:rPr>
              <a:t>• Cryptographic Token Handling: Stateless JWT with HMAC-SHA256, 256-bit secret, and strict token expiration intervals.
• Role-Based Access Control (RBAC): Every endpoint verified; ADMIN granted mutation rights, FACULTY granted invigilation, STUDENT restricted to personal data.
• Injection Defense Mechanisms: Parameterized JPA JPQL queries completely mitigate SQL injection; input sanitization neutralizes XSS and CSV formula injection.
• IDOR Immunity: Endpoints never accept arbitrary student IDs in parameters; identity is cryptographically resolved from authenticated JWT token.
• Defensive Error Handling: Standardized ApiResponse envelope suppresses raw stack traces and internal database schemas from client responses.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78C1B9-C3FA-89E9-746E-95116E15AB0C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3537CA-6DB4-12EE-358F-64C73589184F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Zero Trust RBAC
</a:t>
            </a:r>
            <a:r>
              <a:rPr lang="en-US" sz="1100">
                <a:solidFill>
                  <a:srgbClr val="F0E8E2"/>
                </a:solidFill>
              </a:rPr>
              <a:t>Backend security filters enforce role checks </a:t>
            </a:r>
            <a:r>
              <a:rPr lang="en-US">
                <a:solidFill>
                  <a:srgbClr val="F0E8E2"/>
                </a:solidFill>
              </a:rPr>
              <a:t>on every single </a:t>
            </a:r>
            <a:r>
              <a:rPr lang="en-US" sz="1100">
                <a:solidFill>
                  <a:srgbClr val="F0E8E2"/>
                </a:solidFill>
              </a:rPr>
              <a:t>HTTP request.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D8BF29-2E89-757C-1994-EFC49846B946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4414D3-80EB-82D0-02AB-7AA81D5C0FDB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OWASP Compliant
</a:t>
            </a:r>
            <a:r>
              <a:rPr lang="en-US" sz="1100">
                <a:solidFill>
                  <a:srgbClr val="F0E8E2"/>
                </a:solidFill>
              </a:rPr>
              <a:t>Verified against top vulnerability </a:t>
            </a:r>
            <a:r>
              <a:rPr lang="en-US">
                <a:solidFill>
                  <a:srgbClr val="F0E8E2"/>
                </a:solidFill>
              </a:rPr>
              <a:t>categories: Broken </a:t>
            </a:r>
            <a:r>
              <a:rPr lang="en-US" sz="1100">
                <a:solidFill>
                  <a:srgbClr val="F0E8E2"/>
                </a:solidFill>
              </a:rPr>
              <a:t>Access Control, Injection, and IDOR.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9B0226-46F2-0842-43E9-DC4E0526A336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94BFF-733F-B0DC-86FD-5AEF12D55A36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Security Suite
</a:t>
            </a:r>
            <a:r>
              <a:rPr lang="en-US" sz="1100">
                <a:solidFill>
                  <a:srgbClr val="F0E8E2"/>
                </a:solidFill>
              </a:rPr>
              <a:t>Dedicated security test classes verifying </a:t>
            </a:r>
            <a:r>
              <a:rPr lang="en-US">
                <a:solidFill>
                  <a:srgbClr val="F0E8E2"/>
                </a:solidFill>
              </a:rPr>
              <a:t>401 Unauthorized </a:t>
            </a:r>
            <a:r>
              <a:rPr lang="en-US" sz="1100">
                <a:solidFill>
                  <a:srgbClr val="F0E8E2"/>
                </a:solidFill>
              </a:rPr>
              <a:t>and 403 Forbidden scenarios.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E6E446A-937D-4B37-D90C-4C5D2242D8B3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12 / 15</a:t>
            </a:r>
          </a:p>
        </p:txBody>
      </p:sp>
    </p:spTree>
    <p:extLst>
      <p:ext uri="{BB962C8B-B14F-4D97-AF65-F5344CB8AC3E}">
        <p14:creationId xmlns:p14="http://schemas.microsoft.com/office/powerpoint/2010/main" val="4057068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10777E-EA8A-B121-ED98-CEB96EC25D2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F7D2C-2A0B-258A-1E54-B98923A9413E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C2BE1-78BE-D1DF-A45C-E021D4B3213B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QUALITY ASSURANCE &amp; VERIFICATION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5CCE4-CE25-D2BC-2A53-2F6EBACA05DB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Automated Test Suite &amp; Execution Evidence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9D873B-D79A-7B0B-049D-1276621DF988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300">
                <a:solidFill>
                  <a:srgbClr val="DBD5D1"/>
                </a:solidFill>
                <a:latin typeface="Segoe UI" panose="020B0502040204020203" pitchFamily="34" charset="0"/>
              </a:rPr>
              <a:t>• Comprehensive Testing Strategy: Multi-layered verification spanning Unit Tests, Integration Tests, Controller Security, and Concurrency Tests.
• Exact Test Execution Metric: 140 Automated Tests Executed | 0 Failures | 0 Errors | 0 Skipped (100% Pass Rate).
• Maven Build Verification: mvn clean package builds cleanly creating campusgrid-core-1.0.0.jar executable artifact.
• Regression Safety Certified: Zero regressions across completed Modules 1, 2, and 3 during Module 4 implementation.
• Continuous Quality Assurance: Deterministic test fixtures with Mockito isolates dependencies without relying on external network calls.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725DD0-68B3-5946-4FAC-8BE01D9BC383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F80AFE-7623-3C38-3071-6F412267F5C8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6D558"/>
                </a:solidFill>
              </a:rPr>
              <a:t>140 / 140 Passing
</a:t>
            </a:r>
            <a:r>
              <a:rPr lang="en-IN" sz="1100">
                <a:solidFill>
                  <a:srgbClr val="F0E8E2"/>
                </a:solidFill>
              </a:rPr>
              <a:t>AuthController (9), ExamManagement </a:t>
            </a:r>
            <a:r>
              <a:rPr lang="en-IN">
                <a:solidFill>
                  <a:srgbClr val="F0E8E2"/>
                </a:solidFill>
              </a:rPr>
              <a:t>(13), ExamEngine </a:t>
            </a:r>
            <a:r>
              <a:rPr lang="en-IN" sz="1100">
                <a:solidFill>
                  <a:srgbClr val="F0E8E2"/>
                </a:solidFill>
              </a:rPr>
              <a:t>(7), ExamService (13), StudentPortal (14)...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8AF5CD-E4E4-0FCC-C3F3-F7848647CED0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00709-3A19-A08B-1F9B-BA71DE34E6BD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Build Success
</a:t>
            </a:r>
            <a:r>
              <a:rPr lang="en-US" sz="1100">
                <a:solidFill>
                  <a:srgbClr val="F0E8E2"/>
                </a:solidFill>
              </a:rPr>
              <a:t>Clean packaging of standalone executable </a:t>
            </a:r>
            <a:r>
              <a:rPr lang="en-US">
                <a:solidFill>
                  <a:srgbClr val="F0E8E2"/>
                </a:solidFill>
              </a:rPr>
              <a:t>Spring Boot JAR </a:t>
            </a:r>
            <a:r>
              <a:rPr lang="en-US" sz="1100">
                <a:solidFill>
                  <a:srgbClr val="F0E8E2"/>
                </a:solidFill>
              </a:rPr>
              <a:t>with embedded Tomcat.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5F3D19-2692-B9AD-1967-267A9A77C941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3633F4-F03C-4132-0BE1-463821E542F2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Zero Regressions
</a:t>
            </a:r>
            <a:r>
              <a:rPr lang="en-US" sz="1100">
                <a:solidFill>
                  <a:srgbClr val="F0E8E2"/>
                </a:solidFill>
              </a:rPr>
              <a:t>All original functionality intact with </a:t>
            </a:r>
            <a:r>
              <a:rPr lang="en-US">
                <a:solidFill>
                  <a:srgbClr val="F0E8E2"/>
                </a:solidFill>
              </a:rPr>
              <a:t>complete data </a:t>
            </a:r>
            <a:r>
              <a:rPr lang="en-US" sz="1100">
                <a:solidFill>
                  <a:srgbClr val="F0E8E2"/>
                </a:solidFill>
              </a:rPr>
              <a:t>preservation.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3F657E-F71F-D6C8-D622-A61C62E98FF2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13 / 15</a:t>
            </a:r>
          </a:p>
        </p:txBody>
      </p:sp>
    </p:spTree>
    <p:extLst>
      <p:ext uri="{BB962C8B-B14F-4D97-AF65-F5344CB8AC3E}">
        <p14:creationId xmlns:p14="http://schemas.microsoft.com/office/powerpoint/2010/main" val="35958531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E78D21-CE54-F42B-13E1-04AA0F50052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27059-72C3-8094-0CA0-305605B37E4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77AFCC-5F48-36BF-C430-DE7CBA1B44B9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SYSTEM DEMONSTRATION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BB27A4-85A9-C0FD-1B7C-C60034BD4022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Live System Demonstration &amp; Key Features</a:t>
            </a:r>
            <a:endParaRPr lang="en-IN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B1C3C4-B54C-8D11-61A8-A7CDA6C0EDA3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Live Deployment on Port 8080: Web application running live at http://localhost:8080/login with instant response.
• Default Stakeholder Credentials: Admin (admin / Admin@123), Faculty (meera.faculty / Faculty@123), Student (rahul123 / Student@123).
• Interactive Seating Matrix: Real-time visual classroom chart with color-coded seats, candidate tooltips, and print-ready rosters.
• Real-Time Capacity Calculation: Dynamic calculation of usable seats vs. unavailable seats prior to allocating candidates.
• Collaborative Git Workflow: Individual dedicated branch contributions merged seamlessly with clean commit history on branch kashish.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E55CC-B3BF-1DDA-6CFC-321757FD3DF8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BD187E-4B1B-92EA-4E06-44C118792D31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Admin Console
</a:t>
            </a:r>
            <a:r>
              <a:rPr lang="en-US" sz="1100">
                <a:solidFill>
                  <a:srgbClr val="F0E8E2"/>
                </a:solidFill>
              </a:rPr>
              <a:t>Live metrics, scheduling modals, multi-hall </a:t>
            </a:r>
            <a:r>
              <a:rPr lang="en-US">
                <a:solidFill>
                  <a:srgbClr val="F0E8E2"/>
                </a:solidFill>
              </a:rPr>
              <a:t>selector, and </a:t>
            </a:r>
            <a:r>
              <a:rPr lang="en-US" sz="1100">
                <a:solidFill>
                  <a:srgbClr val="F0E8E2"/>
                </a:solidFill>
              </a:rPr>
              <a:t>seating generation.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9AB7AB-DDF7-C96E-7599-5F862A6F9BDB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1EF4A6-F724-9E6C-50C8-0093CA711CE5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Student Portal
</a:t>
            </a:r>
            <a:r>
              <a:rPr lang="en-US" sz="1100">
                <a:solidFill>
                  <a:srgbClr val="F0E8E2"/>
                </a:solidFill>
              </a:rPr>
              <a:t>Personalized schedule showing exam </a:t>
            </a:r>
            <a:r>
              <a:rPr lang="en-US">
                <a:solidFill>
                  <a:srgbClr val="F0E8E2"/>
                </a:solidFill>
              </a:rPr>
              <a:t>dates, hall codes, </a:t>
            </a:r>
            <a:r>
              <a:rPr lang="en-US" sz="1100"/>
              <a:t>and </a:t>
            </a:r>
            <a:r>
              <a:rPr lang="en-US" sz="1100">
                <a:solidFill>
                  <a:srgbClr val="F0E8E2"/>
                </a:solidFill>
              </a:rPr>
              <a:t>assigned seat numbers.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D63C48-DF53-F71C-9A19-043BAC1C03DE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3389-B8A6-7208-5FED-4EBDC3DDCABA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Live Server
</a:t>
            </a:r>
            <a:r>
              <a:rPr lang="en-US" sz="1100">
                <a:solidFill>
                  <a:srgbClr val="F0E8E2"/>
                </a:solidFill>
              </a:rPr>
              <a:t>Application listening on port 8080 ready </a:t>
            </a:r>
            <a:r>
              <a:rPr lang="en-US">
                <a:solidFill>
                  <a:srgbClr val="F0E8E2"/>
                </a:solidFill>
              </a:rPr>
              <a:t>for immediate </a:t>
            </a:r>
            <a:r>
              <a:rPr lang="en-US" sz="1100">
                <a:solidFill>
                  <a:srgbClr val="F0E8E2"/>
                </a:solidFill>
              </a:rPr>
              <a:t>institutional demonstration.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9DC262-5808-7F37-5042-0F906CA834DD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14 / 15</a:t>
            </a:r>
          </a:p>
        </p:txBody>
      </p:sp>
    </p:spTree>
    <p:extLst>
      <p:ext uri="{BB962C8B-B14F-4D97-AF65-F5344CB8AC3E}">
        <p14:creationId xmlns:p14="http://schemas.microsoft.com/office/powerpoint/2010/main" val="3551253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1362-184F-AE41-45CA-2369BF8F5F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41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A4FF16-92DC-4DA1-1056-A30AB7FD5A2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3B8B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38D01E-11D1-0D1A-184A-C1945DE6A6E4}"/>
              </a:ext>
            </a:extLst>
          </p:cNvPr>
          <p:cNvSpPr txBox="1"/>
          <p:nvPr/>
        </p:nvSpPr>
        <p:spPr>
          <a:xfrm>
            <a:off x="635000" y="317500"/>
            <a:ext cx="1092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 b="1">
                <a:solidFill>
                  <a:srgbClr val="3B8BEB"/>
                </a:solidFill>
                <a:latin typeface="Segoe UI" panose="020B0502040204020203" pitchFamily="34" charset="0"/>
              </a:rPr>
              <a:t>CONCLUSION &amp; 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DCCAC-ACEE-B5E6-3504-8BC10990D3F3}"/>
              </a:ext>
            </a:extLst>
          </p:cNvPr>
          <p:cNvSpPr txBox="1"/>
          <p:nvPr/>
        </p:nvSpPr>
        <p:spPr>
          <a:xfrm>
            <a:off x="635000" y="609600"/>
            <a:ext cx="10922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400" b="1">
                <a:solidFill>
                  <a:srgbClr val="FFFFFF"/>
                </a:solidFill>
                <a:latin typeface="Segoe UI" panose="020B0502040204020203" pitchFamily="34" charset="0"/>
              </a:rPr>
              <a:t>Conclusion, Future Horizons &amp; Acknowledgments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2E5FFC-76C0-6F21-E451-707A7A955A6F}"/>
              </a:ext>
            </a:extLst>
          </p:cNvPr>
          <p:cNvSpPr txBox="1"/>
          <p:nvPr/>
        </p:nvSpPr>
        <p:spPr>
          <a:xfrm>
            <a:off x="635000" y="1333500"/>
            <a:ext cx="6096000" cy="2893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DBD5D1"/>
                </a:solidFill>
                <a:latin typeface="Segoe UI" panose="020B0502040204020203" pitchFamily="34" charset="0"/>
              </a:rPr>
              <a:t>• Project Deliverable Complete: CampusGrid successfully bridges physical university infrastructure with automated digital management.
• Measurable Institutional Impact: Eliminates classroom double-bookings, reduces exam seating prep from hours to seconds, and deters cheating.
• Future Enhancements: 1. QR-code digital hall ticket scanning, 2. RFID classroom attendance integration, 3. Mobile native companion apps.
• Seamless Transition: Module 4 is certified READY FOR MODULE 5 integration with robust endpoints and test coverage.
• Special Acknowledgments: Heartfelt gratitude to our Project Guide, Er. Ram Babu Buri, for invaluable guidance and architectural mentorship.</a:t>
            </a:r>
            <a:endParaRPr lang="en-IN" sz="1300">
              <a:solidFill>
                <a:srgbClr val="DBD5D1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C3E17D-829A-BBBF-6D25-D77AFE375223}"/>
              </a:ext>
            </a:extLst>
          </p:cNvPr>
          <p:cNvSpPr/>
          <p:nvPr/>
        </p:nvSpPr>
        <p:spPr>
          <a:xfrm>
            <a:off x="7112000" y="1333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B16EC-6327-9E27-DF38-09F818C34FFD}"/>
              </a:ext>
            </a:extLst>
          </p:cNvPr>
          <p:cNvSpPr txBox="1"/>
          <p:nvPr/>
        </p:nvSpPr>
        <p:spPr>
          <a:xfrm>
            <a:off x="7239000" y="1435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Ready for Production
</a:t>
            </a:r>
            <a:r>
              <a:rPr lang="en-US" sz="1100">
                <a:solidFill>
                  <a:srgbClr val="F0E8E2"/>
                </a:solidFill>
              </a:rPr>
              <a:t>Robust, scalable, secure, and user-centric </a:t>
            </a:r>
            <a:r>
              <a:rPr lang="en-US">
                <a:solidFill>
                  <a:srgbClr val="F0E8E2"/>
                </a:solidFill>
              </a:rPr>
              <a:t>campus space </a:t>
            </a:r>
            <a:r>
              <a:rPr lang="en-US" sz="1100">
                <a:solidFill>
                  <a:srgbClr val="F0E8E2"/>
                </a:solidFill>
              </a:rPr>
              <a:t>management platform.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FCDEB-F51C-D3B4-0069-6CC2FC247929}"/>
              </a:ext>
            </a:extLst>
          </p:cNvPr>
          <p:cNvSpPr/>
          <p:nvPr/>
        </p:nvSpPr>
        <p:spPr>
          <a:xfrm>
            <a:off x="7112000" y="25400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A870AB-1B68-E325-5108-F1FF4315389E}"/>
              </a:ext>
            </a:extLst>
          </p:cNvPr>
          <p:cNvSpPr txBox="1"/>
          <p:nvPr/>
        </p:nvSpPr>
        <p:spPr>
          <a:xfrm>
            <a:off x="7239000" y="26416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 b="1">
                <a:solidFill>
                  <a:srgbClr val="F6D558"/>
                </a:solidFill>
              </a:rPr>
              <a:t>Thank You
</a:t>
            </a:r>
            <a:r>
              <a:rPr lang="en-US" sz="1100">
                <a:solidFill>
                  <a:srgbClr val="F0E8E2"/>
                </a:solidFill>
              </a:rPr>
              <a:t>Open for Questions, Demonstration &amp; </a:t>
            </a:r>
            <a:r>
              <a:rPr lang="en-US">
                <a:solidFill>
                  <a:srgbClr val="F0E8E2"/>
                </a:solidFill>
              </a:rPr>
              <a:t>Feedback from the </a:t>
            </a:r>
            <a:r>
              <a:rPr lang="en-US" sz="1100">
                <a:solidFill>
                  <a:srgbClr val="F0E8E2"/>
                </a:solidFill>
              </a:rPr>
              <a:t>Evaluation Committee.</a:t>
            </a:r>
            <a:endParaRPr lang="en-IN" sz="1100">
              <a:solidFill>
                <a:srgbClr val="F0E8E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F8EB19-F42E-74A1-68CF-C17C6CA4A301}"/>
              </a:ext>
            </a:extLst>
          </p:cNvPr>
          <p:cNvSpPr/>
          <p:nvPr/>
        </p:nvSpPr>
        <p:spPr>
          <a:xfrm>
            <a:off x="7112000" y="3746500"/>
            <a:ext cx="4445000" cy="1079500"/>
          </a:xfrm>
          <a:prstGeom prst="rect">
            <a:avLst/>
          </a:prstGeom>
          <a:solidFill>
            <a:srgbClr val="1E242E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BBBD8E-AA29-C954-5617-1A8E9AAC9DF2}"/>
              </a:ext>
            </a:extLst>
          </p:cNvPr>
          <p:cNvSpPr txBox="1"/>
          <p:nvPr/>
        </p:nvSpPr>
        <p:spPr>
          <a:xfrm>
            <a:off x="7239000" y="3848100"/>
            <a:ext cx="4191000" cy="7232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IN" sz="1200" b="1">
                <a:solidFill>
                  <a:srgbClr val="F6D558"/>
                </a:solidFill>
              </a:rPr>
              <a:t>Team CampusGrid
</a:t>
            </a:r>
            <a:r>
              <a:rPr lang="en-IN" sz="1100">
                <a:solidFill>
                  <a:srgbClr val="F0E8E2"/>
                </a:solidFill>
              </a:rPr>
              <a:t>Nikhil Kumawat, Palak Nandani, Priyanshu </a:t>
            </a:r>
            <a:r>
              <a:rPr lang="en-IN">
                <a:solidFill>
                  <a:srgbClr val="F0E8E2"/>
                </a:solidFill>
              </a:rPr>
              <a:t>Kumar, Kashish </a:t>
            </a:r>
            <a:r>
              <a:rPr lang="en-IN" sz="1100">
                <a:solidFill>
                  <a:srgbClr val="F0E8E2"/>
                </a:solidFill>
              </a:rPr>
              <a:t>Upadhyay, Bhawni Kumari.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61BF68-B8E6-71D7-D4AD-E1D1FC748A4A}"/>
              </a:ext>
            </a:extLst>
          </p:cNvPr>
          <p:cNvSpPr txBox="1"/>
          <p:nvPr/>
        </p:nvSpPr>
        <p:spPr>
          <a:xfrm>
            <a:off x="10795000" y="6413500"/>
            <a:ext cx="889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900">
                <a:solidFill>
                  <a:srgbClr val="8B7464"/>
                </a:solidFill>
                <a:latin typeface="Segoe UI" panose="020B0502040204020203" pitchFamily="34" charset="0"/>
              </a:rPr>
              <a:t>Slide 15 / 15</a:t>
            </a:r>
          </a:p>
        </p:txBody>
      </p:sp>
    </p:spTree>
    <p:extLst>
      <p:ext uri="{BB962C8B-B14F-4D97-AF65-F5344CB8AC3E}">
        <p14:creationId xmlns:p14="http://schemas.microsoft.com/office/powerpoint/2010/main" val="678381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2700</Words>
  <Application>Microsoft Office PowerPoint</Application>
  <PresentationFormat>Custom</PresentationFormat>
  <Paragraphs>102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Kashish Upadhyay</dc:creator>
  <cp:lastModifiedBy>Kashish Upadhyay</cp:lastModifiedBy>
  <cp:revision>1</cp:revision>
  <dcterms:created xsi:type="dcterms:W3CDTF">2026-10-15T20:51:31Z</dcterms:created>
  <dcterms:modified xsi:type="dcterms:W3CDTF">2026-10-15T20:51:31Z</dcterms:modified>
</cp:coreProperties>
</file>